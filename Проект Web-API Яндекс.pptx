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2" r:id="rId5"/>
    <p:sldId id="261" r:id="rId6"/>
    <p:sldId id="264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54" autoAdjust="0"/>
  </p:normalViewPr>
  <p:slideViewPr>
    <p:cSldViewPr snapToGrid="0">
      <p:cViewPr varScale="1">
        <p:scale>
          <a:sx n="109" d="100"/>
          <a:sy n="109" d="100"/>
        </p:scale>
        <p:origin x="6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7EA605-A053-40E0-A5D0-2F14B22486D7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8D746-3CFC-4BB4-8BDF-9DFD210666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4989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Согласно ГОСТ 34 техническое задание должно включать следующие разделы: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1. Общие сведения</a:t>
            </a:r>
            <a:br>
              <a:rPr lang="ru-RU" dirty="0"/>
            </a:b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2. Назначение и цели создания (развития) системы</a:t>
            </a:r>
            <a:br>
              <a:rPr lang="ru-RU" dirty="0"/>
            </a:b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3. Характеристика объектов автоматизации</a:t>
            </a:r>
            <a:br>
              <a:rPr lang="ru-RU" dirty="0"/>
            </a:b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4. Требования к системе</a:t>
            </a:r>
            <a:br>
              <a:rPr lang="ru-RU" dirty="0"/>
            </a:b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5. Состав и содержание работ по созданию системы</a:t>
            </a:r>
            <a:br>
              <a:rPr lang="ru-RU" dirty="0"/>
            </a:b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6. Порядок контроля и приемки системы</a:t>
            </a:r>
            <a:br>
              <a:rPr lang="ru-RU" dirty="0"/>
            </a:b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7. Требования к составу и содержанию работ по подготовке объекта автоматизации к вводу системы в действие</a:t>
            </a:r>
            <a:br>
              <a:rPr lang="ru-RU" dirty="0"/>
            </a:b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8. Требования к документированию</a:t>
            </a:r>
            <a:br>
              <a:rPr lang="ru-RU" dirty="0"/>
            </a:b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9. Источники разработки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При разработке ТЗ для государственных проектов Заказчики, как правило, требуют соблюдение именно этого стандарта.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8D746-3CFC-4BB4-8BDF-9DFD210666F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6841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8D746-3CFC-4BB4-8BDF-9DFD210666F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3714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09E746-068A-4986-9C7A-F39C80251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8A0BEBC-B999-4F5B-8740-81C0C8C421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49E4F6-E140-4215-835C-DDFDC43EB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CC54-1CE8-429B-8CB3-622263DA2D8B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38BBB1-FB5F-45B7-B27F-A819DD8B3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EFB1FE-E50E-4C0B-A01B-D3BAD2FDE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5D9E-A6A6-4526-96CC-5FF9C2512F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5805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6CC44-78E8-45C4-AF13-0ED6E9924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2E0AEA-8CB7-42C0-B025-024849A78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EA6613-A12D-454A-B43C-943B534A7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CC54-1CE8-429B-8CB3-622263DA2D8B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3A8032-133C-4D72-A3A9-4D677C5B6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3A3647-CD3A-4454-9FE2-0E24EE70D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5D9E-A6A6-4526-96CC-5FF9C2512F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7148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CD1C8A-6BED-43E7-8764-66D3707E8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DEECA1-FD76-4178-86F7-E345624AD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59F2FC-8831-4F3A-B2E9-258F258B3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CC54-1CE8-429B-8CB3-622263DA2D8B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A045C7-361D-4333-96AC-43E12DD2B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BB4CF4-7AA5-4F4A-BF92-E7BA6D7A1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5D9E-A6A6-4526-96CC-5FF9C2512F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3929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D129E6-FFBA-4FDE-BA02-69D080A83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542F74-3443-4249-8C7D-09210FA60F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71C7DD-CA97-46E4-9CB0-F22DE0921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8DDBE8-9FFB-4484-A588-8260D08F5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CC54-1CE8-429B-8CB3-622263DA2D8B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D05AC61-48A2-45E3-BD16-D3D89375E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F929883-5EDB-4B01-9F55-E715CA43C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5D9E-A6A6-4526-96CC-5FF9C2512F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3853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0C836C-7839-4957-A89B-FD944BDC1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FC763C-8B92-4983-81F3-7EC1B1EB1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2D6FAC-3552-4CFE-9A93-568E07693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B137629-00E4-45EA-9E5C-528E660FBA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50DC6C2-827C-4916-BA01-F84580B56C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E48F04C-8EBC-48FA-8107-3142DB1E4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CC54-1CE8-429B-8CB3-622263DA2D8B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32230F7-1E09-4CAE-9862-D794BB7C1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14901C3-F463-4B84-8720-849A25DD8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5D9E-A6A6-4526-96CC-5FF9C2512F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634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9F761F-EEB2-42F0-B5A3-EF8524413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2086A50-D3F3-418D-84ED-95F913510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CC54-1CE8-429B-8CB3-622263DA2D8B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22DBBC9-6518-4A9E-A685-5438EB7EB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8E1D266-A254-4AF4-A118-9447CCAF0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5D9E-A6A6-4526-96CC-5FF9C2512F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0059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F41991E-A32D-41B7-A664-F9A7F2FED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CC54-1CE8-429B-8CB3-622263DA2D8B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49EBA2A-F695-4452-BB8F-63DC3A4ED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FD6649-56B4-4BBC-A1C1-A7DA70A48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5D9E-A6A6-4526-96CC-5FF9C2512F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14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043DA-1F14-423E-A0AF-85F72AF8B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8220FE-F26D-4B64-94B4-87DD3EDDC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A88A5C-AC90-4D6C-8AC5-08DD7A6E5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65FA732-38E9-4BEA-999A-9E3DD9F65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CC54-1CE8-429B-8CB3-622263DA2D8B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F3A8504-3C3E-48FB-A980-048EC2636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B1B30D-C3F2-4882-BA42-86A2B4940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5D9E-A6A6-4526-96CC-5FF9C2512F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414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17F6FD-D526-4928-BC05-D261A16F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A369F7C-6654-482D-8623-6740D54C0E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9ABEEEF-1A82-4749-A3A9-35197CB63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0A26EE3-96C0-472C-BD40-CFEC9A74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CC54-1CE8-429B-8CB3-622263DA2D8B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A8637F0-3A25-458D-9B6A-38EDB40DC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889ADE-5AD4-4A98-A0EA-108C1FEF1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5D9E-A6A6-4526-96CC-5FF9C2512F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323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EA4C6F-84AA-4BA7-B793-0A40B268B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60E8712-9AAD-43F3-BE8A-9F7D9B69A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77AC49-AF8B-4D8B-8D1C-3E1D83CE6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CC54-1CE8-429B-8CB3-622263DA2D8B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3877AE-2AA5-48E1-8F3B-013788FA6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D66807-F462-4ED8-A7AE-2D7C6D6A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5D9E-A6A6-4526-96CC-5FF9C2512F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9209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301C274-BB26-422D-AB36-693842FECE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EBE0004-7867-490D-AD4E-AF5312DA6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13B54F-2A45-4EF4-B08C-9F5D816AD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CC54-1CE8-429B-8CB3-622263DA2D8B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8ED102-BF07-478E-A059-7D2CD1C74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D18914-4CA3-4C54-B7C6-186EFB9EC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5D9E-A6A6-4526-96CC-5FF9C2512F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6771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BFFC87-3504-4107-B12B-FD2C1407F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030250-36BD-4EE1-BBC9-3E672CC16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661DFC-3DD3-44DD-A3D3-B177D037ED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9CC54-1CE8-429B-8CB3-622263DA2D8B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EBB69B-5048-475A-9FFE-9EFC4CCD4F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D2DDB7-8C2C-4198-9AE1-492A663EF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25D9E-A6A6-4526-96CC-5FF9C2512F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1216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5942A8-1411-41DB-9C6C-A865F636B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9801" y="1836795"/>
            <a:ext cx="9231517" cy="1737590"/>
          </a:xfrm>
        </p:spPr>
        <p:txBody>
          <a:bodyPr>
            <a:normAutofit/>
          </a:bodyPr>
          <a:lstStyle/>
          <a:p>
            <a:r>
              <a:rPr lang="ru-RU" dirty="0"/>
              <a:t>«</a:t>
            </a:r>
            <a:r>
              <a:rPr lang="en-US" dirty="0" err="1"/>
              <a:t>PerCol</a:t>
            </a:r>
            <a:r>
              <a:rPr lang="ru-RU" dirty="0"/>
              <a:t>»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87AE180-2668-48B0-86B4-400722634D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72157"/>
            <a:ext cx="9144000" cy="896817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Выполнил:</a:t>
            </a:r>
          </a:p>
          <a:p>
            <a:pPr algn="l"/>
            <a:r>
              <a:rPr lang="ru-RU" dirty="0"/>
              <a:t>Косячков Егор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24ED7C9D-2154-45D6-B58A-5A0A64220378}"/>
              </a:ext>
            </a:extLst>
          </p:cNvPr>
          <p:cNvSpPr txBox="1">
            <a:spLocks/>
          </p:cNvSpPr>
          <p:nvPr/>
        </p:nvSpPr>
        <p:spPr>
          <a:xfrm>
            <a:off x="1524000" y="10477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FEDB0DAE-B9F6-478C-8906-7C09968A0D93}"/>
              </a:ext>
            </a:extLst>
          </p:cNvPr>
          <p:cNvSpPr txBox="1">
            <a:spLocks/>
          </p:cNvSpPr>
          <p:nvPr/>
        </p:nvSpPr>
        <p:spPr>
          <a:xfrm>
            <a:off x="1524000" y="15160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E2688EEF-E40B-43F8-B0DE-95A0F269D5D5}"/>
              </a:ext>
            </a:extLst>
          </p:cNvPr>
          <p:cNvSpPr txBox="1">
            <a:spLocks/>
          </p:cNvSpPr>
          <p:nvPr/>
        </p:nvSpPr>
        <p:spPr>
          <a:xfrm>
            <a:off x="1524000" y="678410"/>
            <a:ext cx="9144000" cy="631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Проект</a:t>
            </a:r>
            <a:r>
              <a:rPr lang="en-US" dirty="0"/>
              <a:t> </a:t>
            </a:r>
            <a:r>
              <a:rPr lang="ru-RU" dirty="0"/>
              <a:t>по теме</a:t>
            </a:r>
            <a:r>
              <a:rPr lang="en-US" dirty="0"/>
              <a:t> “WEB-API”</a:t>
            </a:r>
            <a:endParaRPr lang="ru-RU" dirty="0"/>
          </a:p>
        </p:txBody>
      </p:sp>
      <p:sp>
        <p:nvSpPr>
          <p:cNvPr id="14" name="Подзаголовок 2">
            <a:extLst>
              <a:ext uri="{FF2B5EF4-FFF2-40B4-BE49-F238E27FC236}">
                <a16:creationId xmlns:a16="http://schemas.microsoft.com/office/drawing/2014/main" id="{B862AA18-B044-43E6-B5EF-7C07972C4F57}"/>
              </a:ext>
            </a:extLst>
          </p:cNvPr>
          <p:cNvSpPr txBox="1">
            <a:spLocks/>
          </p:cNvSpPr>
          <p:nvPr/>
        </p:nvSpPr>
        <p:spPr>
          <a:xfrm>
            <a:off x="1524000" y="4492260"/>
            <a:ext cx="9144000" cy="8968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Руководитель:</a:t>
            </a:r>
          </a:p>
          <a:p>
            <a:pPr algn="l"/>
            <a:r>
              <a:rPr lang="ru-RU" dirty="0"/>
              <a:t>Гринчишин Михаил Александрович</a:t>
            </a:r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86F13B7C-0F22-421D-9899-B245E64A9B16}"/>
              </a:ext>
            </a:extLst>
          </p:cNvPr>
          <p:cNvSpPr txBox="1">
            <a:spLocks/>
          </p:cNvSpPr>
          <p:nvPr/>
        </p:nvSpPr>
        <p:spPr>
          <a:xfrm>
            <a:off x="1524000" y="6078878"/>
            <a:ext cx="9144000" cy="8968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/>
              <a:t>Великий Новгород</a:t>
            </a:r>
          </a:p>
          <a:p>
            <a:r>
              <a:rPr lang="ru-RU" sz="1400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067717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5C9826-3B9F-4F58-A520-FDB83821C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/>
              <a:t>Цель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FAB990-1C9F-4FEC-93CC-8ACB83B24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52616"/>
            <a:ext cx="10388097" cy="132556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2400" b="1" dirty="0"/>
              <a:t>Цель:</a:t>
            </a:r>
          </a:p>
          <a:p>
            <a:pPr marL="0" indent="0">
              <a:buNone/>
            </a:pPr>
            <a:r>
              <a:rPr lang="ru-RU" sz="2400" dirty="0"/>
              <a:t>Создание многофункционального веб-сервиса для удобного хранения, систематизации и анализа персональных коллекций книг, фильмов и видеоигр.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F3A7BBC5-7482-4400-8250-616D7C4F8C14}"/>
              </a:ext>
            </a:extLst>
          </p:cNvPr>
          <p:cNvSpPr txBox="1">
            <a:spLocks/>
          </p:cNvSpPr>
          <p:nvPr/>
        </p:nvSpPr>
        <p:spPr>
          <a:xfrm>
            <a:off x="838200" y="3220375"/>
            <a:ext cx="10515600" cy="3087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/>
              <a:t>Задача:</a:t>
            </a:r>
          </a:p>
          <a:p>
            <a:r>
              <a:rPr lang="ru-RU" sz="2400" dirty="0"/>
              <a:t>Составить техническое задание по теме</a:t>
            </a:r>
          </a:p>
          <a:p>
            <a:r>
              <a:rPr lang="ru-RU" sz="2400" dirty="0"/>
              <a:t>Изучить технологии </a:t>
            </a:r>
            <a:r>
              <a:rPr lang="en-US" sz="2400" dirty="0"/>
              <a:t>Web-API</a:t>
            </a:r>
            <a:r>
              <a:rPr lang="ru-RU" sz="2400" dirty="0"/>
              <a:t> и необходимые инструменты</a:t>
            </a:r>
          </a:p>
          <a:p>
            <a:r>
              <a:rPr lang="ru-RU" sz="2400" dirty="0"/>
              <a:t>Связать базу данных с сайтом</a:t>
            </a:r>
          </a:p>
          <a:p>
            <a:r>
              <a:rPr lang="ru-RU" sz="2400" dirty="0"/>
              <a:t>Протестировать сайт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4619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81107-B5A5-49B4-8F4A-B23709032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/>
              <a:t>Техническое 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8797D5-DA3A-42C3-A6E1-128BFD0EC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Сайт должен содержать:</a:t>
            </a:r>
          </a:p>
          <a:p>
            <a:r>
              <a:rPr lang="ru-RU" dirty="0"/>
              <a:t>Главное окно, которое содержит основной функционал сайта</a:t>
            </a:r>
          </a:p>
          <a:p>
            <a:r>
              <a:rPr lang="ru-RU" dirty="0"/>
              <a:t>Окно профиля, которое служит для персонализации аккаунта</a:t>
            </a:r>
          </a:p>
          <a:p>
            <a:r>
              <a:rPr lang="ru-RU" dirty="0"/>
              <a:t>Окно логирования, подтверждающее твою личность </a:t>
            </a:r>
          </a:p>
          <a:p>
            <a:r>
              <a:rPr lang="ru-RU" dirty="0"/>
              <a:t>Окно регистрации для создания персонального аккаунта, чтобы база данных могла привязать коллекцию к конкретному человеку и надежно защитить его данные.</a:t>
            </a:r>
          </a:p>
        </p:txBody>
      </p:sp>
    </p:spTree>
    <p:extLst>
      <p:ext uri="{BB962C8B-B14F-4D97-AF65-F5344CB8AC3E}">
        <p14:creationId xmlns:p14="http://schemas.microsoft.com/office/powerpoint/2010/main" val="1733571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81107-B5A5-49B4-8F4A-B23709032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/>
              <a:t>Реализуемые технологии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6D71D04-42D0-4A45-919D-6ECA6173A4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16244"/>
            <a:ext cx="1017124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ядро системы и логика бэкенда.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создание веб-сервера и обработка API-запросов.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SQLAlchemy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работа с БД через объекты (ORM) и хранение данных.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Flask-Login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система регистрации, входа и управления доступом.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-WTF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защита и проверка данных в формах регистрации и входа.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Jinja2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генерация динамических HTML-страниц на основе данных пользователя.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Werkzeug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шифрование паролей для обеспечения безопасности аккаунтов.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Fetch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общение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фронтенда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 сервером без перезагрузки страниц.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Bootstrap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готовые UI-компоненты для быстрой верстки интерфейса.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SQLite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легкая база данных, хранящая информацию в одном файле.</a:t>
            </a:r>
          </a:p>
        </p:txBody>
      </p:sp>
    </p:spTree>
    <p:extLst>
      <p:ext uri="{BB962C8B-B14F-4D97-AF65-F5344CB8AC3E}">
        <p14:creationId xmlns:p14="http://schemas.microsoft.com/office/powerpoint/2010/main" val="2065314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81107-B5A5-49B4-8F4A-B23709032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/>
              <a:t>Используемые библиотеки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8797D5-DA3A-42C3-A6E1-128BFD0EC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blinker==1.9.0    click==8.3.3    </a:t>
            </a:r>
            <a:r>
              <a:rPr lang="en-US" dirty="0" err="1"/>
              <a:t>colorama</a:t>
            </a:r>
            <a:r>
              <a:rPr lang="en-US" dirty="0"/>
              <a:t>==0.4.6    </a:t>
            </a:r>
            <a:r>
              <a:rPr lang="en-US" dirty="0" err="1"/>
              <a:t>dnspython</a:t>
            </a:r>
            <a:r>
              <a:rPr lang="en-US" dirty="0"/>
              <a:t>==2.8.0    email-validator==2.0.0    Flask==2.3.3    Flask-</a:t>
            </a:r>
            <a:r>
              <a:rPr lang="en-US" dirty="0" err="1"/>
              <a:t>Cors</a:t>
            </a:r>
            <a:r>
              <a:rPr lang="en-US" dirty="0"/>
              <a:t>==4.0.0             Flask-Login==0.6.2     Flask-</a:t>
            </a:r>
            <a:r>
              <a:rPr lang="en-US" dirty="0" err="1"/>
              <a:t>SQLAlchemy</a:t>
            </a:r>
            <a:r>
              <a:rPr lang="en-US" dirty="0"/>
              <a:t>==3.0.5     Flask-WTF==1.1.1 </a:t>
            </a:r>
            <a:r>
              <a:rPr lang="en-US" dirty="0" err="1"/>
              <a:t>greenlet</a:t>
            </a:r>
            <a:r>
              <a:rPr lang="en-US" dirty="0"/>
              <a:t>==3.4.0    </a:t>
            </a:r>
            <a:r>
              <a:rPr lang="en-US" dirty="0" err="1"/>
              <a:t>idna</a:t>
            </a:r>
            <a:r>
              <a:rPr lang="en-US" dirty="0"/>
              <a:t>==3.13    </a:t>
            </a:r>
            <a:r>
              <a:rPr lang="en-US" dirty="0" err="1"/>
              <a:t>itsdangerous</a:t>
            </a:r>
            <a:r>
              <a:rPr lang="en-US" dirty="0"/>
              <a:t>==2.2.0    Jinja2==3.1.6 </a:t>
            </a:r>
            <a:r>
              <a:rPr lang="en-US" dirty="0" err="1"/>
              <a:t>MarkupSafe</a:t>
            </a:r>
            <a:r>
              <a:rPr lang="en-US" dirty="0"/>
              <a:t>==3.0.3    marshmallow==3.20.1    packaging==26.1 </a:t>
            </a:r>
            <a:r>
              <a:rPr lang="en-US" dirty="0" err="1"/>
              <a:t>SQLAlchemy</a:t>
            </a:r>
            <a:r>
              <a:rPr lang="en-US" dirty="0"/>
              <a:t>==2.0.49    </a:t>
            </a:r>
            <a:r>
              <a:rPr lang="en-US" dirty="0" err="1"/>
              <a:t>typing_extensions</a:t>
            </a:r>
            <a:r>
              <a:rPr lang="en-US" dirty="0"/>
              <a:t>==4.15.0    </a:t>
            </a:r>
            <a:r>
              <a:rPr lang="en-US" dirty="0" err="1"/>
              <a:t>Werkzeug</a:t>
            </a:r>
            <a:r>
              <a:rPr lang="en-US" dirty="0"/>
              <a:t>==2.3.7 </a:t>
            </a:r>
            <a:r>
              <a:rPr lang="en-US" dirty="0" err="1"/>
              <a:t>WTForms</a:t>
            </a:r>
            <a:r>
              <a:rPr lang="en-US" dirty="0"/>
              <a:t>==3.0.1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6610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81107-B5A5-49B4-8F4A-B23709032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8797D5-DA3A-42C3-A6E1-128BFD0EC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В ходе разработки проекта </a:t>
            </a:r>
            <a:r>
              <a:rPr lang="ru-RU" dirty="0" err="1"/>
              <a:t>PerCol</a:t>
            </a:r>
            <a:r>
              <a:rPr lang="ru-RU" dirty="0"/>
              <a:t> было создано функциональное веб-приложение для систематизации личных коллекций. Реализованная система позволяет пользователям не только хранить данные о книгах, фильмах и играх в едином защищенном пространстве, но и эффективно управлять ими с помощью инструментов поиска, фильтрации и детальной статистики. Использование современного стека технологий, таких как </a:t>
            </a:r>
            <a:r>
              <a:rPr lang="ru-RU" dirty="0" err="1"/>
              <a:t>Python</a:t>
            </a:r>
            <a:r>
              <a:rPr lang="ru-RU" dirty="0"/>
              <a:t> и </a:t>
            </a:r>
            <a:r>
              <a:rPr lang="ru-RU" dirty="0" err="1"/>
              <a:t>Flask</a:t>
            </a:r>
            <a:r>
              <a:rPr lang="ru-RU" dirty="0"/>
              <a:t>, обеспечило высокую скорость работы и гибкость настройки интерфейса. Разработанные функции импорта и экспорта данных делают приложение универсальным инструментом, решающим задачу организации цифровых и физических библиотек. Проект имеет потенциал для дальнейшего развития, включая интеграцию с внешними API для автоматического заполнения информации о предметах.</a:t>
            </a:r>
          </a:p>
        </p:txBody>
      </p:sp>
    </p:spTree>
    <p:extLst>
      <p:ext uri="{BB962C8B-B14F-4D97-AF65-F5344CB8AC3E}">
        <p14:creationId xmlns:p14="http://schemas.microsoft.com/office/powerpoint/2010/main" val="5747225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504</Words>
  <Application>Microsoft Office PowerPoint</Application>
  <PresentationFormat>Широкоэкранный</PresentationFormat>
  <Paragraphs>40</Paragraphs>
  <Slides>6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-apple-system</vt:lpstr>
      <vt:lpstr>Arial</vt:lpstr>
      <vt:lpstr>Calibri</vt:lpstr>
      <vt:lpstr>Calibri Light</vt:lpstr>
      <vt:lpstr>Тема Office</vt:lpstr>
      <vt:lpstr>«PerCol» </vt:lpstr>
      <vt:lpstr>Цель и задачи</vt:lpstr>
      <vt:lpstr>Техническое задание</vt:lpstr>
      <vt:lpstr>Реализуемые технологии </vt:lpstr>
      <vt:lpstr>Используемые библиотеки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ovzamyatina@dnevnik.ru</dc:creator>
  <cp:lastModifiedBy>Egor</cp:lastModifiedBy>
  <cp:revision>16</cp:revision>
  <dcterms:created xsi:type="dcterms:W3CDTF">2021-10-21T10:39:44Z</dcterms:created>
  <dcterms:modified xsi:type="dcterms:W3CDTF">2026-05-04T20:00:36Z</dcterms:modified>
</cp:coreProperties>
</file>